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465B21-4283-446D-B03E-A05ED978173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94"/>
  </p:normalViewPr>
  <p:slideViewPr>
    <p:cSldViewPr snapToGrid="0">
      <p:cViewPr varScale="1">
        <p:scale>
          <a:sx n="147" d="100"/>
          <a:sy n="147" d="100"/>
        </p:scale>
        <p:origin x="29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C4581-A5B4-4AC6-BDC7-96EE5ED697A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0792D-3712-482F-BBD6-C72073C91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6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0792D-3712-482F-BBD6-C72073C91D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59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672F0-EB82-C640-1A1D-0C4DFFADD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11A9C-CB87-FD51-BA43-A2D6D42CE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A7867-2F72-D7E9-C963-72A370FEC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32BD-0BD7-4728-8523-DD6666BB012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E8D12-11A6-3F35-0B4B-DBDB3D0B4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3A9C3-CD58-C5A4-05E7-D145349E6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E688B-4194-4930-B00C-DBBA1FCFE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95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60E60-1483-4838-85F9-063A2AAD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10E47-1A21-519A-DABD-9E0259803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5B567-CC41-9343-462C-0A29AD85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32BD-0BD7-4728-8523-DD6666BB012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916B6-E686-EE1F-4621-9DB267EFD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EB82B-A0CB-48D0-AD5C-F026B8FF9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E688B-4194-4930-B00C-DBBA1FCFE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00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E0215-D5AA-5E07-05C5-6697BF807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03EEF-F5E1-13A7-B283-EE6B2FC7F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56634-E3BB-C39E-1186-BD06CB74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32BD-0BD7-4728-8523-DD6666BB012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686F0-C1B2-32AA-58A3-2CB4BCE5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98ABC-2684-AE7D-9748-9F2DF827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E688B-4194-4930-B00C-DBBA1FCFE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9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89D6-31BA-EB42-3084-BF37A6AD7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594EC-B983-2FDC-29A3-5450867F3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BF183-F112-05E7-2E45-7BA238FCE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B6986-B088-DC2A-5247-6BED5EAA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32BD-0BD7-4728-8523-DD6666BB012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65D30-1E83-CAEE-3905-4E4E78F6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72D58-7727-EB93-9C6E-37F34A04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E688B-4194-4930-B00C-DBBA1FCFE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00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A78B1-4C31-5E22-95CB-16240EE3D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506B1-5AB1-1EC1-F8C0-216DCB295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B0D50-C10D-01CB-F294-034FABCBF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4580A2-007D-9CD2-4776-978F3EA18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00365-A15A-91E5-BCDA-6F7C48B1D7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D00DF9-8E7B-ED77-02FC-680389EBE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32BD-0BD7-4728-8523-DD6666BB012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B69E59-248A-A84C-A5F4-A8A4C8BA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10E140-1CE1-1080-E700-AB892834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E688B-4194-4930-B00C-DBBA1FCFE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6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20E9-3AE0-96B1-0CEC-EE33F2640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0746E1-E9F9-0E18-FEA4-6C09D8D9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32BD-0BD7-4728-8523-DD6666BB012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00470C-DE84-28FD-34C1-8901D4316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D0C29A-AA97-DB73-D0EE-8FAE90034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E688B-4194-4930-B00C-DBBA1FCFE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2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B4895-9569-30DF-1542-04CA57FC3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32BD-0BD7-4728-8523-DD6666BB012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1236DF-7A0F-6FC5-1D70-262A2C49C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DD229-52AC-8D8C-A1B8-D003381C8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E688B-4194-4930-B00C-DBBA1FCFE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05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CD42-99A9-7B2E-9C7A-29FD9806C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25E1C-5BD0-51E4-F3BD-5BF303DBA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1D0BB-241B-40B0-6822-090DDB772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A2EE7-C521-6314-ECA3-AFBD4FEC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32BD-0BD7-4728-8523-DD6666BB012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27A11-852E-CF4D-A41D-7BB2D7FA4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32D16-2F71-9188-FF20-14B5F786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E688B-4194-4930-B00C-DBBA1FCFE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1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8DEC-8891-7264-B7B1-B6CEFB282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91A60-1BEE-CEDC-613E-65DE67507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A53F9-0B4A-706E-9B20-2A20BA64C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D1DE9-1FA6-B519-7495-44B182BE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32BD-0BD7-4728-8523-DD6666BB012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29424-F4D2-2ABA-8B19-D13FC004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50AA5-50DD-EB01-C93D-1793A152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E688B-4194-4930-B00C-DBBA1FCFE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3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3CE8F-FD11-488A-BB53-97A4ACBED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A6560A-4D92-D750-E49B-00B834934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80413-0DAB-D303-E317-CB37DDE9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32BD-0BD7-4728-8523-DD6666BB012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9D662-FFFE-E123-8C2B-F175D37CD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6657D-98C1-DE80-7321-971A93004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E688B-4194-4930-B00C-DBBA1FCFE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8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726D1E-1683-A9BC-AF4B-4BCCF2DFF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EA6B5-856C-D74C-6C8E-6623A8D40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6E4D5-B360-FE91-F148-807DE279D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32BD-0BD7-4728-8523-DD6666BB012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2D65E-716B-6B89-D886-6F911203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90BE9-C501-EA72-3576-B8F27AF13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E688B-4194-4930-B00C-DBBA1FCFE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0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896C2-31EE-A1A4-5B50-7E88244E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95757-7F9C-F059-F6E8-39E23728C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D7CB1-26E3-C962-5329-A666B1676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D232BD-0BD7-4728-8523-DD6666BB012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536E2-FAA6-1375-494E-BFC5F6208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47698-BBFA-A246-CDE9-CE3341EF3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5E688B-4194-4930-B00C-DBBA1FCFE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0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48F5C283-C55B-23F9-2E71-C93E4266A218}"/>
              </a:ext>
            </a:extLst>
          </p:cNvPr>
          <p:cNvGrpSpPr/>
          <p:nvPr/>
        </p:nvGrpSpPr>
        <p:grpSpPr>
          <a:xfrm>
            <a:off x="1311703" y="473132"/>
            <a:ext cx="10153652" cy="6112668"/>
            <a:chOff x="261117" y="32148"/>
            <a:chExt cx="10153652" cy="6112668"/>
          </a:xfrm>
        </p:grpSpPr>
        <p:sp>
          <p:nvSpPr>
            <p:cNvPr id="13" name="Flowchart: Manual Operation 12">
              <a:extLst>
                <a:ext uri="{FF2B5EF4-FFF2-40B4-BE49-F238E27FC236}">
                  <a16:creationId xmlns:a16="http://schemas.microsoft.com/office/drawing/2014/main" id="{D591F371-ECFB-F9B4-A615-1715E91EA717}"/>
                </a:ext>
              </a:extLst>
            </p:cNvPr>
            <p:cNvSpPr/>
            <p:nvPr/>
          </p:nvSpPr>
          <p:spPr>
            <a:xfrm rot="16200000">
              <a:off x="2926711" y="4229223"/>
              <a:ext cx="1508934" cy="1114495"/>
            </a:xfrm>
            <a:prstGeom prst="flowChartManualOperation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VAE</a:t>
              </a:r>
            </a:p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Encoder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E0E5D1C-7A60-57B8-6D69-31A041761F31}"/>
                </a:ext>
              </a:extLst>
            </p:cNvPr>
            <p:cNvCxnSpPr>
              <a:cxnSpLocks/>
              <a:stCxn id="13" idx="3"/>
              <a:endCxn id="89" idx="2"/>
            </p:cNvCxnSpPr>
            <p:nvPr/>
          </p:nvCxnSpPr>
          <p:spPr>
            <a:xfrm flipH="1" flipV="1">
              <a:off x="3681178" y="3577662"/>
              <a:ext cx="1" cy="605235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lowchart: Manual Operation 15">
              <a:extLst>
                <a:ext uri="{FF2B5EF4-FFF2-40B4-BE49-F238E27FC236}">
                  <a16:creationId xmlns:a16="http://schemas.microsoft.com/office/drawing/2014/main" id="{00413435-1B0F-EF89-D519-72BF3A48D0D3}"/>
                </a:ext>
              </a:extLst>
            </p:cNvPr>
            <p:cNvSpPr/>
            <p:nvPr/>
          </p:nvSpPr>
          <p:spPr>
            <a:xfrm rot="5400000">
              <a:off x="2777904" y="500960"/>
              <a:ext cx="1645920" cy="1115384"/>
            </a:xfrm>
            <a:prstGeom prst="flowChartManualOperation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VAE Decoder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C44A4ED-3364-1DC4-1169-1B1AEBB2EFB3}"/>
                </a:ext>
              </a:extLst>
            </p:cNvPr>
            <p:cNvCxnSpPr>
              <a:cxnSpLocks/>
              <a:stCxn id="16" idx="0"/>
              <a:endCxn id="7" idx="1"/>
            </p:cNvCxnSpPr>
            <p:nvPr/>
          </p:nvCxnSpPr>
          <p:spPr>
            <a:xfrm flipV="1">
              <a:off x="4158556" y="1058377"/>
              <a:ext cx="960456" cy="275"/>
            </a:xfrm>
            <a:prstGeom prst="straightConnector1">
              <a:avLst/>
            </a:prstGeom>
            <a:ln>
              <a:solidFill>
                <a:srgbClr val="0033C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7CC3682-714D-1919-58A9-9E858F59503D}"/>
                </a:ext>
              </a:extLst>
            </p:cNvPr>
            <p:cNvCxnSpPr>
              <a:cxnSpLocks/>
              <a:stCxn id="7" idx="3"/>
              <a:endCxn id="28" idx="1"/>
            </p:cNvCxnSpPr>
            <p:nvPr/>
          </p:nvCxnSpPr>
          <p:spPr>
            <a:xfrm flipV="1">
              <a:off x="6673205" y="1056723"/>
              <a:ext cx="1476999" cy="165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B1A633C-EB3B-2F55-E8BF-D5FAFE67EECD}"/>
                </a:ext>
              </a:extLst>
            </p:cNvPr>
            <p:cNvCxnSpPr>
              <a:cxnSpLocks/>
              <a:stCxn id="72" idx="2"/>
              <a:endCxn id="22" idx="0"/>
            </p:cNvCxnSpPr>
            <p:nvPr/>
          </p:nvCxnSpPr>
          <p:spPr>
            <a:xfrm>
              <a:off x="1307892" y="1756071"/>
              <a:ext cx="1" cy="28466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029072F1-1071-7F24-5475-B594977C8A45}"/>
                </a:ext>
              </a:extLst>
            </p:cNvPr>
            <p:cNvCxnSpPr>
              <a:cxnSpLocks/>
              <a:stCxn id="22" idx="2"/>
              <a:endCxn id="12" idx="0"/>
            </p:cNvCxnSpPr>
            <p:nvPr/>
          </p:nvCxnSpPr>
          <p:spPr>
            <a:xfrm rot="16200000" flipH="1">
              <a:off x="1128759" y="3930784"/>
              <a:ext cx="567665" cy="209397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C61F3B3-4E5E-DD33-5482-F04D9B42E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ChalkSketch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19012" y="377560"/>
              <a:ext cx="1554193" cy="1361634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453743F-7BA0-1A5E-F483-5428C4F99ED9}"/>
                </a:ext>
              </a:extLst>
            </p:cNvPr>
            <p:cNvCxnSpPr>
              <a:cxnSpLocks/>
              <a:stCxn id="12" idx="3"/>
              <a:endCxn id="13" idx="0"/>
            </p:cNvCxnSpPr>
            <p:nvPr/>
          </p:nvCxnSpPr>
          <p:spPr>
            <a:xfrm>
              <a:off x="2117248" y="4778956"/>
              <a:ext cx="1006683" cy="7515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F2172BB0-6043-DF5E-5055-18E5D4CC5EB6}"/>
                </a:ext>
              </a:extLst>
            </p:cNvPr>
            <p:cNvGrpSpPr/>
            <p:nvPr/>
          </p:nvGrpSpPr>
          <p:grpSpPr>
            <a:xfrm>
              <a:off x="384540" y="4319317"/>
              <a:ext cx="1901079" cy="1825499"/>
              <a:chOff x="614086" y="2139557"/>
              <a:chExt cx="1466201" cy="1098550"/>
            </a:xfrm>
          </p:grpSpPr>
          <p:pic>
            <p:nvPicPr>
              <p:cNvPr id="10" name="Picture 9" descr="A black and white image of a striped surface&#10;&#10;AI-generated content may be incorrect.">
                <a:extLst>
                  <a:ext uri="{FF2B5EF4-FFF2-40B4-BE49-F238E27FC236}">
                    <a16:creationId xmlns:a16="http://schemas.microsoft.com/office/drawing/2014/main" id="{28A30E84-BC07-B8F6-CEBA-3EFB14575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4086" y="2380995"/>
                <a:ext cx="925433" cy="553205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1" name="Picture 10" descr="A black and white background&#10;&#10;AI-generated content may be incorrect.">
                <a:extLst>
                  <a:ext uri="{FF2B5EF4-FFF2-40B4-BE49-F238E27FC236}">
                    <a16:creationId xmlns:a16="http://schemas.microsoft.com/office/drawing/2014/main" id="{CD0AFFFA-2FCC-B875-86F1-E9CDF8A200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7640" y="2277063"/>
                <a:ext cx="925432" cy="553205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2" name="Picture 11" descr="A black and white striped background&#10;&#10;AI-generated content may be incorrect.">
                <a:extLst>
                  <a:ext uri="{FF2B5EF4-FFF2-40B4-BE49-F238E27FC236}">
                    <a16:creationId xmlns:a16="http://schemas.microsoft.com/office/drawing/2014/main" id="{AC95359A-C73B-1F1C-1BA2-2E96788655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4999" y="2139557"/>
                <a:ext cx="925432" cy="553205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857AD24-2E53-6B5E-1D7B-426BCDC3A6A7}"/>
                  </a:ext>
                </a:extLst>
              </p:cNvPr>
              <p:cNvSpPr txBox="1"/>
              <p:nvPr/>
            </p:nvSpPr>
            <p:spPr>
              <a:xfrm>
                <a:off x="705158" y="3034372"/>
                <a:ext cx="1375129" cy="20373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Geologic images</a:t>
                </a:r>
              </a:p>
            </p:txBody>
          </p:sp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554A32A-C2D3-936E-5236-03964D076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0919" y="1567796"/>
              <a:ext cx="2245" cy="505298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66037CDE-29C2-1779-72B6-8AE2AB6014C1}"/>
                </a:ext>
              </a:extLst>
            </p:cNvPr>
            <p:cNvGrpSpPr/>
            <p:nvPr/>
          </p:nvGrpSpPr>
          <p:grpSpPr>
            <a:xfrm>
              <a:off x="5070673" y="2903141"/>
              <a:ext cx="1712682" cy="1508035"/>
              <a:chOff x="5534280" y="4065034"/>
              <a:chExt cx="1712682" cy="1508035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4F2E59-842A-1B62-6D64-84A285D92DF6}"/>
                  </a:ext>
                </a:extLst>
              </p:cNvPr>
              <p:cNvSpPr txBox="1"/>
              <p:nvPr/>
            </p:nvSpPr>
            <p:spPr>
              <a:xfrm>
                <a:off x="5534280" y="5234515"/>
                <a:ext cx="1712682" cy="338554"/>
              </a:xfrm>
              <a:prstGeom prst="rect">
                <a:avLst/>
              </a:prstGeom>
              <a:noFill/>
              <a:ln w="12700">
                <a:solidFill>
                  <a:srgbClr val="0033CC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Neural networks</a:t>
                </a:r>
              </a:p>
            </p:txBody>
          </p: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D47DB979-AF35-3B43-D8F6-EDF4A0E463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74370" y="4065034"/>
                <a:ext cx="1373911" cy="1162623"/>
              </a:xfrm>
              <a:prstGeom prst="rect">
                <a:avLst/>
              </a:prstGeom>
              <a:ln>
                <a:solidFill>
                  <a:srgbClr val="0033CC"/>
                </a:solidFill>
              </a:ln>
            </p:spPr>
          </p:pic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C737020-4C91-B0C0-1B54-BAC7A409B78A}"/>
                </a:ext>
              </a:extLst>
            </p:cNvPr>
            <p:cNvCxnSpPr>
              <a:cxnSpLocks/>
              <a:stCxn id="30" idx="0"/>
              <a:endCxn id="100" idx="2"/>
            </p:cNvCxnSpPr>
            <p:nvPr/>
          </p:nvCxnSpPr>
          <p:spPr>
            <a:xfrm flipV="1">
              <a:off x="5897719" y="2707029"/>
              <a:ext cx="664" cy="196112"/>
            </a:xfrm>
            <a:prstGeom prst="straightConnector1">
              <a:avLst/>
            </a:prstGeom>
            <a:ln>
              <a:solidFill>
                <a:srgbClr val="0033C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F2008F82-ABCD-DFE7-2D78-A7B834876262}"/>
                </a:ext>
              </a:extLst>
            </p:cNvPr>
            <p:cNvGrpSpPr/>
            <p:nvPr/>
          </p:nvGrpSpPr>
          <p:grpSpPr>
            <a:xfrm>
              <a:off x="3611197" y="5663626"/>
              <a:ext cx="6803572" cy="410327"/>
              <a:chOff x="1698172" y="6147482"/>
              <a:chExt cx="6803572" cy="410327"/>
            </a:xfrm>
            <a:solidFill>
              <a:schemeClr val="bg1">
                <a:lumMod val="95000"/>
              </a:schemeClr>
            </a:solidFill>
          </p:grpSpPr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BB011AC6-DC56-A5C0-57D7-FC5A79CC2952}"/>
                  </a:ext>
                </a:extLst>
              </p:cNvPr>
              <p:cNvSpPr/>
              <p:nvPr/>
            </p:nvSpPr>
            <p:spPr>
              <a:xfrm>
                <a:off x="1698172" y="6147482"/>
                <a:ext cx="6803572" cy="41032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AD465162-7425-FEFA-4905-97DF6108DFDD}"/>
                  </a:ext>
                </a:extLst>
              </p:cNvPr>
              <p:cNvGrpSpPr/>
              <p:nvPr/>
            </p:nvGrpSpPr>
            <p:grpSpPr>
              <a:xfrm>
                <a:off x="1856382" y="6166937"/>
                <a:ext cx="6645362" cy="345039"/>
                <a:chOff x="1856381" y="6166937"/>
                <a:chExt cx="6667133" cy="345039"/>
              </a:xfrm>
              <a:grpFill/>
            </p:grpSpPr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A084B1D2-E9C5-A45E-17FE-854CD0D2E9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6078" y="6332148"/>
                  <a:ext cx="412841" cy="0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12A34A8-FCFD-A2F3-F4EE-7E863BA621FC}"/>
                    </a:ext>
                  </a:extLst>
                </p:cNvPr>
                <p:cNvSpPr txBox="1"/>
                <p:nvPr/>
              </p:nvSpPr>
              <p:spPr>
                <a:xfrm>
                  <a:off x="7443139" y="6166937"/>
                  <a:ext cx="1080375" cy="338554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Ranking</a:t>
                  </a:r>
                </a:p>
              </p:txBody>
            </p: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B8BCF84D-9227-7183-7476-A5B9912065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56381" y="6332148"/>
                  <a:ext cx="412840" cy="0"/>
                </a:xfrm>
                <a:prstGeom prst="line">
                  <a:avLst/>
                </a:prstGeom>
                <a:grp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1B20B911-E7FA-30D3-BA66-A4C56FBF5B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8176" y="6332148"/>
                  <a:ext cx="412840" cy="0"/>
                </a:xfrm>
                <a:prstGeom prst="line">
                  <a:avLst/>
                </a:prstGeom>
                <a:grp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98CD28D6-FA7B-56FD-0D27-2889FD99EE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51299" y="6332148"/>
                  <a:ext cx="412840" cy="0"/>
                </a:xfrm>
                <a:prstGeom prst="line">
                  <a:avLst/>
                </a:prstGeom>
                <a:grpFill/>
                <a:ln w="38100">
                  <a:solidFill>
                    <a:srgbClr val="0033CC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E6C537A-D62D-1523-7F20-06A3714FDCD0}"/>
                    </a:ext>
                  </a:extLst>
                </p:cNvPr>
                <p:cNvSpPr txBox="1"/>
                <p:nvPr/>
              </p:nvSpPr>
              <p:spPr>
                <a:xfrm>
                  <a:off x="2253442" y="6173422"/>
                  <a:ext cx="1833693" cy="338554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Data generation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6D9A641E-79BA-DAA2-24F1-C45CDF02DF23}"/>
                    </a:ext>
                  </a:extLst>
                </p:cNvPr>
                <p:cNvSpPr txBox="1"/>
                <p:nvPr/>
              </p:nvSpPr>
              <p:spPr>
                <a:xfrm>
                  <a:off x="4595238" y="6173422"/>
                  <a:ext cx="750410" cy="338554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Prior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7F12180-F922-F794-E3CF-9C652264FB53}"/>
                    </a:ext>
                  </a:extLst>
                </p:cNvPr>
                <p:cNvSpPr txBox="1"/>
                <p:nvPr/>
              </p:nvSpPr>
              <p:spPr>
                <a:xfrm>
                  <a:off x="5748361" y="6166937"/>
                  <a:ext cx="1174954" cy="338554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Inversion</a:t>
                  </a:r>
                </a:p>
              </p:txBody>
            </p:sp>
          </p:grp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A6BED2F2-C84F-60CA-2FC5-8F67A9256398}"/>
                </a:ext>
              </a:extLst>
            </p:cNvPr>
            <p:cNvGrpSpPr/>
            <p:nvPr/>
          </p:nvGrpSpPr>
          <p:grpSpPr>
            <a:xfrm>
              <a:off x="4704251" y="4604808"/>
              <a:ext cx="2455358" cy="894583"/>
              <a:chOff x="8403770" y="4677587"/>
              <a:chExt cx="2471059" cy="1243223"/>
            </a:xfrm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1F4EC783-7480-0B24-98D0-BECE899A3EBE}"/>
                  </a:ext>
                </a:extLst>
              </p:cNvPr>
              <p:cNvSpPr/>
              <p:nvPr/>
            </p:nvSpPr>
            <p:spPr>
              <a:xfrm>
                <a:off x="8403770" y="4677587"/>
                <a:ext cx="2471059" cy="124322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33C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889A48FF-51D1-097E-98C1-C5ED8732739C}"/>
                  </a:ext>
                </a:extLst>
              </p:cNvPr>
              <p:cNvGrpSpPr/>
              <p:nvPr/>
            </p:nvGrpSpPr>
            <p:grpSpPr>
              <a:xfrm>
                <a:off x="8447309" y="4731833"/>
                <a:ext cx="2327984" cy="1093644"/>
                <a:chOff x="10258712" y="4901949"/>
                <a:chExt cx="2716793" cy="968467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C7363424-9B99-D6F0-7628-9CA9C70D0528}"/>
                    </a:ext>
                  </a:extLst>
                </p:cNvPr>
                <p:cNvSpPr/>
                <p:nvPr/>
              </p:nvSpPr>
              <p:spPr>
                <a:xfrm>
                  <a:off x="10258712" y="5138083"/>
                  <a:ext cx="1262152" cy="5686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Observed pressure</a:t>
                  </a:r>
                </a:p>
              </p:txBody>
            </p:sp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7016377A-8266-DB83-15D5-4A4613C5E9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 b="12696"/>
                <a:stretch>
                  <a:fillRect/>
                </a:stretch>
              </p:blipFill>
              <p:spPr>
                <a:xfrm>
                  <a:off x="11510634" y="4901949"/>
                  <a:ext cx="1464871" cy="96846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46707D3-971A-B5CA-49E0-201F18970BA9}"/>
                </a:ext>
              </a:extLst>
            </p:cNvPr>
            <p:cNvGrpSpPr/>
            <p:nvPr/>
          </p:nvGrpSpPr>
          <p:grpSpPr>
            <a:xfrm>
              <a:off x="8150204" y="271893"/>
              <a:ext cx="1645920" cy="1569659"/>
              <a:chOff x="7750629" y="1527967"/>
              <a:chExt cx="1665514" cy="1349637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491CC4B-EE8D-B5B3-EEDA-8C1E7561E25B}"/>
                  </a:ext>
                </a:extLst>
              </p:cNvPr>
              <p:cNvSpPr txBox="1"/>
              <p:nvPr/>
            </p:nvSpPr>
            <p:spPr>
              <a:xfrm>
                <a:off x="7750629" y="1527967"/>
                <a:ext cx="1665514" cy="13496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Forward model</a:t>
                </a:r>
              </a:p>
              <a:p>
                <a:pPr algn="ctr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915C9352-9DEA-48C5-2408-DFF312A34D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38917" y="1805307"/>
                <a:ext cx="1506710" cy="1059953"/>
              </a:xfrm>
              <a:prstGeom prst="rect">
                <a:avLst/>
              </a:prstGeom>
            </p:spPr>
          </p:pic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7BE89BC7-2870-653D-59C3-2845183C8CA8}"/>
                </a:ext>
              </a:extLst>
            </p:cNvPr>
            <p:cNvGrpSpPr/>
            <p:nvPr/>
          </p:nvGrpSpPr>
          <p:grpSpPr>
            <a:xfrm>
              <a:off x="330166" y="2040731"/>
              <a:ext cx="1955453" cy="1710920"/>
              <a:chOff x="1350168" y="3556658"/>
              <a:chExt cx="1828800" cy="1970368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59E6C38-8AFC-9B4F-459B-0E1D090F84D4}"/>
                  </a:ext>
                </a:extLst>
              </p:cNvPr>
              <p:cNvSpPr txBox="1"/>
              <p:nvPr/>
            </p:nvSpPr>
            <p:spPr>
              <a:xfrm>
                <a:off x="1350168" y="3556658"/>
                <a:ext cx="1828800" cy="1970368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Foundation text to image models</a:t>
                </a:r>
              </a:p>
              <a:p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3D2B2344-2BB5-FB71-96F7-47CAE90DA3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45345" y="4267568"/>
                <a:ext cx="1387813" cy="1129501"/>
              </a:xfrm>
              <a:prstGeom prst="rect">
                <a:avLst/>
              </a:prstGeom>
            </p:spPr>
          </p:pic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D179CDF7-DEAB-20E8-AD4E-7AB8DFAFBAE3}"/>
                </a:ext>
              </a:extLst>
            </p:cNvPr>
            <p:cNvGrpSpPr/>
            <p:nvPr/>
          </p:nvGrpSpPr>
          <p:grpSpPr>
            <a:xfrm rot="5400000">
              <a:off x="3250457" y="2304992"/>
              <a:ext cx="895365" cy="1643779"/>
              <a:chOff x="4028138" y="1571874"/>
              <a:chExt cx="974136" cy="1431631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40867D5-9CE4-450A-952B-76622CAF3ED5}"/>
                  </a:ext>
                </a:extLst>
              </p:cNvPr>
              <p:cNvSpPr/>
              <p:nvPr/>
            </p:nvSpPr>
            <p:spPr>
              <a:xfrm>
                <a:off x="4028138" y="1571874"/>
                <a:ext cx="974136" cy="14316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72503386-087E-BEDC-F9C9-1277DAE9E6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r="12734"/>
              <a:stretch>
                <a:fillRect/>
              </a:stretch>
            </p:blipFill>
            <p:spPr>
              <a:xfrm>
                <a:off x="4234760" y="1753271"/>
                <a:ext cx="398874" cy="1137605"/>
              </a:xfrm>
              <a:prstGeom prst="rect">
                <a:avLst/>
              </a:prstGeom>
            </p:spPr>
          </p:pic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BFB4E5CF-4202-6330-254D-BB361502C7BE}"/>
                </a:ext>
              </a:extLst>
            </p:cNvPr>
            <p:cNvGrpSpPr/>
            <p:nvPr/>
          </p:nvGrpSpPr>
          <p:grpSpPr>
            <a:xfrm rot="16200000">
              <a:off x="5491875" y="1441209"/>
              <a:ext cx="792456" cy="1712681"/>
              <a:chOff x="4305783" y="1102984"/>
              <a:chExt cx="696490" cy="1900523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FC633ECE-941A-64DD-88F9-2527A41FC747}"/>
                  </a:ext>
                </a:extLst>
              </p:cNvPr>
              <p:cNvSpPr/>
              <p:nvPr/>
            </p:nvSpPr>
            <p:spPr>
              <a:xfrm>
                <a:off x="4305783" y="1102984"/>
                <a:ext cx="696490" cy="190052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33C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3" name="Picture 152">
                <a:extLst>
                  <a:ext uri="{FF2B5EF4-FFF2-40B4-BE49-F238E27FC236}">
                    <a16:creationId xmlns:a16="http://schemas.microsoft.com/office/drawing/2014/main" id="{EA474667-5C8F-594B-40C2-2E4354390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biLevel thresh="75000"/>
              </a:blip>
              <a:srcRect r="12734"/>
              <a:stretch>
                <a:fillRect/>
              </a:stretch>
            </p:blipFill>
            <p:spPr>
              <a:xfrm>
                <a:off x="4557890" y="1266373"/>
                <a:ext cx="398874" cy="1626391"/>
              </a:xfrm>
              <a:prstGeom prst="rect">
                <a:avLst/>
              </a:prstGeom>
              <a:ln>
                <a:solidFill>
                  <a:srgbClr val="0033CC"/>
                </a:solidFill>
              </a:ln>
            </p:spPr>
          </p:pic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FE28C18E-DC79-ED0E-F470-24E6259CD33C}"/>
                </a:ext>
              </a:extLst>
            </p:cNvPr>
            <p:cNvGrpSpPr/>
            <p:nvPr/>
          </p:nvGrpSpPr>
          <p:grpSpPr>
            <a:xfrm>
              <a:off x="7565990" y="2066609"/>
              <a:ext cx="2809858" cy="833575"/>
              <a:chOff x="8403770" y="4677587"/>
              <a:chExt cx="2471059" cy="2465334"/>
            </a:xfrm>
          </p:grpSpPr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2922C66F-6390-7534-06B5-5401F4828167}"/>
                  </a:ext>
                </a:extLst>
              </p:cNvPr>
              <p:cNvSpPr/>
              <p:nvPr/>
            </p:nvSpPr>
            <p:spPr>
              <a:xfrm>
                <a:off x="8403770" y="4677587"/>
                <a:ext cx="2471059" cy="246533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D631B6F2-04FD-842E-FC16-2778B5DD8E9D}"/>
                  </a:ext>
                </a:extLst>
              </p:cNvPr>
              <p:cNvSpPr/>
              <p:nvPr/>
            </p:nvSpPr>
            <p:spPr>
              <a:xfrm>
                <a:off x="8467606" y="5067401"/>
                <a:ext cx="922372" cy="13147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Inferred pressure</a:t>
                </a:r>
              </a:p>
            </p:txBody>
          </p:sp>
        </p:grpSp>
        <p:pic>
          <p:nvPicPr>
            <p:cNvPr id="238" name="Picture 237">
              <a:extLst>
                <a:ext uri="{FF2B5EF4-FFF2-40B4-BE49-F238E27FC236}">
                  <a16:creationId xmlns:a16="http://schemas.microsoft.com/office/drawing/2014/main" id="{3144DFE4-E08C-EA40-4136-55A63216E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049795" y="2082545"/>
              <a:ext cx="1145754" cy="777783"/>
            </a:xfrm>
            <a:prstGeom prst="rect">
              <a:avLst/>
            </a:prstGeom>
          </p:spPr>
        </p:pic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B1E05C6-419F-65A0-AA9C-9F738DFC9E24}"/>
                </a:ext>
              </a:extLst>
            </p:cNvPr>
            <p:cNvGrpSpPr/>
            <p:nvPr/>
          </p:nvGrpSpPr>
          <p:grpSpPr>
            <a:xfrm>
              <a:off x="7568235" y="3136908"/>
              <a:ext cx="2809858" cy="935989"/>
              <a:chOff x="7613630" y="3318488"/>
              <a:chExt cx="2809858" cy="935989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B37F9EE-1952-D8C1-6FC6-23F8D97FCAD7}"/>
                  </a:ext>
                </a:extLst>
              </p:cNvPr>
              <p:cNvSpPr/>
              <p:nvPr/>
            </p:nvSpPr>
            <p:spPr>
              <a:xfrm>
                <a:off x="7613630" y="3318488"/>
                <a:ext cx="2809858" cy="93598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89" name="Group 288">
                <a:extLst>
                  <a:ext uri="{FF2B5EF4-FFF2-40B4-BE49-F238E27FC236}">
                    <a16:creationId xmlns:a16="http://schemas.microsoft.com/office/drawing/2014/main" id="{AB936E0F-B2A3-458D-B87A-F7B634A43879}"/>
                  </a:ext>
                </a:extLst>
              </p:cNvPr>
              <p:cNvGrpSpPr/>
              <p:nvPr/>
            </p:nvGrpSpPr>
            <p:grpSpPr>
              <a:xfrm>
                <a:off x="7675094" y="3392996"/>
                <a:ext cx="2596046" cy="834274"/>
                <a:chOff x="7104071" y="5521716"/>
                <a:chExt cx="2082678" cy="834274"/>
              </a:xfrm>
            </p:grpSpPr>
            <p:sp>
              <p:nvSpPr>
                <p:cNvPr id="285" name="Rectangle 284">
                  <a:extLst>
                    <a:ext uri="{FF2B5EF4-FFF2-40B4-BE49-F238E27FC236}">
                      <a16:creationId xmlns:a16="http://schemas.microsoft.com/office/drawing/2014/main" id="{3506A75D-F022-3436-027F-172B0D1E8DC4}"/>
                    </a:ext>
                  </a:extLst>
                </p:cNvPr>
                <p:cNvSpPr/>
                <p:nvPr/>
              </p:nvSpPr>
              <p:spPr>
                <a:xfrm>
                  <a:off x="7104071" y="5609495"/>
                  <a:ext cx="1013109" cy="67874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Pressure inference error</a:t>
                  </a:r>
                </a:p>
              </p:txBody>
            </p:sp>
            <p:pic>
              <p:nvPicPr>
                <p:cNvPr id="288" name="Picture 287">
                  <a:extLst>
                    <a:ext uri="{FF2B5EF4-FFF2-40B4-BE49-F238E27FC236}">
                      <a16:creationId xmlns:a16="http://schemas.microsoft.com/office/drawing/2014/main" id="{CF17BB10-FDBC-D189-2FE1-54B4F72861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304803" y="5521716"/>
                  <a:ext cx="881946" cy="834274"/>
                </a:xfrm>
                <a:prstGeom prst="rect">
                  <a:avLst/>
                </a:prstGeom>
              </p:spPr>
            </p:pic>
          </p:grp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DE7379B-BE5F-FBAE-037D-E5DBB830FC3A}"/>
                </a:ext>
              </a:extLst>
            </p:cNvPr>
            <p:cNvSpPr txBox="1"/>
            <p:nvPr/>
          </p:nvSpPr>
          <p:spPr>
            <a:xfrm>
              <a:off x="261117" y="124855"/>
              <a:ext cx="2093549" cy="1631216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Text description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of a geology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“Fractured dolomite aquifer with a central low-permeability halite zone…. “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7AD4605-1D19-54D5-3040-7AA58BE4F026}"/>
                </a:ext>
              </a:extLst>
            </p:cNvPr>
            <p:cNvSpPr txBox="1"/>
            <p:nvPr/>
          </p:nvSpPr>
          <p:spPr>
            <a:xfrm>
              <a:off x="2859288" y="3208330"/>
              <a:ext cx="16437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Learned latent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AEAAA1E-B6F0-DF99-1C86-3F21B29EE13D}"/>
                </a:ext>
              </a:extLst>
            </p:cNvPr>
            <p:cNvSpPr txBox="1"/>
            <p:nvPr/>
          </p:nvSpPr>
          <p:spPr>
            <a:xfrm>
              <a:off x="5123561" y="2337697"/>
              <a:ext cx="15496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Inferred latent</a:t>
              </a: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556F1E8C-677C-0E82-4BBA-A711B53BF1D3}"/>
                </a:ext>
              </a:extLst>
            </p:cNvPr>
            <p:cNvCxnSpPr>
              <a:cxnSpLocks/>
              <a:stCxn id="222" idx="0"/>
              <a:endCxn id="25" idx="2"/>
            </p:cNvCxnSpPr>
            <p:nvPr/>
          </p:nvCxnSpPr>
          <p:spPr>
            <a:xfrm flipH="1" flipV="1">
              <a:off x="5927014" y="4411176"/>
              <a:ext cx="4916" cy="193632"/>
            </a:xfrm>
            <a:prstGeom prst="straightConnector1">
              <a:avLst/>
            </a:prstGeom>
            <a:ln>
              <a:solidFill>
                <a:srgbClr val="0033C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E8C67E8-F669-D5A7-FB42-76A726E12EF1}"/>
                </a:ext>
              </a:extLst>
            </p:cNvPr>
            <p:cNvGrpSpPr/>
            <p:nvPr/>
          </p:nvGrpSpPr>
          <p:grpSpPr>
            <a:xfrm>
              <a:off x="7568235" y="4337907"/>
              <a:ext cx="2809858" cy="792015"/>
              <a:chOff x="7710905" y="4720522"/>
              <a:chExt cx="2809858" cy="792015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23C6EBC-341E-B4E0-0E30-CA3F4AE9072E}"/>
                  </a:ext>
                </a:extLst>
              </p:cNvPr>
              <p:cNvSpPr/>
              <p:nvPr/>
            </p:nvSpPr>
            <p:spPr>
              <a:xfrm>
                <a:off x="7710905" y="4720522"/>
                <a:ext cx="2809858" cy="79201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84DC62B0-FEC4-704A-6DC1-C53E27E280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rcRect l="22506" t="24338" b="-1890"/>
              <a:stretch>
                <a:fillRect/>
              </a:stretch>
            </p:blipFill>
            <p:spPr>
              <a:xfrm>
                <a:off x="8901901" y="4722956"/>
                <a:ext cx="1485558" cy="786917"/>
              </a:xfrm>
              <a:prstGeom prst="rect">
                <a:avLst/>
              </a:prstGeom>
            </p:spPr>
          </p:pic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34B1CF4E-436B-2572-BE11-9625FCF9F4DA}"/>
                  </a:ext>
                </a:extLst>
              </p:cNvPr>
              <p:cNvSpPr txBox="1"/>
              <p:nvPr/>
            </p:nvSpPr>
            <p:spPr>
              <a:xfrm>
                <a:off x="7710905" y="4843980"/>
                <a:ext cx="129901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Ranking</a:t>
                </a:r>
              </a:p>
            </p:txBody>
          </p:sp>
        </p:grpSp>
        <p:cxnSp>
          <p:nvCxnSpPr>
            <p:cNvPr id="132" name="Connector: Elbow 131">
              <a:extLst>
                <a:ext uri="{FF2B5EF4-FFF2-40B4-BE49-F238E27FC236}">
                  <a16:creationId xmlns:a16="http://schemas.microsoft.com/office/drawing/2014/main" id="{F48F961D-D4AF-B287-A473-54C2AE80A2B1}"/>
                </a:ext>
              </a:extLst>
            </p:cNvPr>
            <p:cNvCxnSpPr>
              <a:cxnSpLocks/>
              <a:stCxn id="15" idx="2"/>
              <a:endCxn id="16" idx="2"/>
            </p:cNvCxnSpPr>
            <p:nvPr/>
          </p:nvCxnSpPr>
          <p:spPr>
            <a:xfrm rot="10800000" flipH="1">
              <a:off x="2876250" y="1058652"/>
              <a:ext cx="166922" cy="2068230"/>
            </a:xfrm>
            <a:prstGeom prst="bentConnector3">
              <a:avLst>
                <a:gd name="adj1" fmla="val -195868"/>
              </a:avLst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: Elbow 136">
              <a:extLst>
                <a:ext uri="{FF2B5EF4-FFF2-40B4-BE49-F238E27FC236}">
                  <a16:creationId xmlns:a16="http://schemas.microsoft.com/office/drawing/2014/main" id="{46AADD39-0A3B-B943-5175-62136D29C205}"/>
                </a:ext>
              </a:extLst>
            </p:cNvPr>
            <p:cNvCxnSpPr>
              <a:cxnSpLocks/>
              <a:stCxn id="152" idx="0"/>
              <a:endCxn id="16" idx="3"/>
            </p:cNvCxnSpPr>
            <p:nvPr/>
          </p:nvCxnSpPr>
          <p:spPr>
            <a:xfrm rot="10800000">
              <a:off x="3600865" y="1717020"/>
              <a:ext cx="1430899" cy="580530"/>
            </a:xfrm>
            <a:prstGeom prst="bentConnector2">
              <a:avLst/>
            </a:prstGeom>
            <a:ln>
              <a:solidFill>
                <a:srgbClr val="0033C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13C9849-E39A-393A-91D5-D04ECE61D670}"/>
                </a:ext>
              </a:extLst>
            </p:cNvPr>
            <p:cNvSpPr txBox="1"/>
            <p:nvPr/>
          </p:nvSpPr>
          <p:spPr>
            <a:xfrm>
              <a:off x="5025860" y="32148"/>
              <a:ext cx="1725070" cy="338554"/>
            </a:xfrm>
            <a:prstGeom prst="rect">
              <a:avLst/>
            </a:prstGeom>
            <a:solidFill>
              <a:schemeClr val="bg2">
                <a:alpha val="49000"/>
              </a:schemeClr>
            </a:solidFill>
            <a:ln>
              <a:solidFill>
                <a:srgbClr val="0033CC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Inferred geology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D47C07C-E96A-1A54-6D7D-980A185B8507}"/>
                </a:ext>
              </a:extLst>
            </p:cNvPr>
            <p:cNvCxnSpPr>
              <a:cxnSpLocks/>
            </p:cNvCxnSpPr>
            <p:nvPr/>
          </p:nvCxnSpPr>
          <p:spPr>
            <a:xfrm>
              <a:off x="8971951" y="2900184"/>
              <a:ext cx="0" cy="236724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8BB6D61E-0468-B5E8-BF8B-10A53198120D}"/>
                </a:ext>
              </a:extLst>
            </p:cNvPr>
            <p:cNvCxnSpPr>
              <a:cxnSpLocks/>
            </p:cNvCxnSpPr>
            <p:nvPr/>
          </p:nvCxnSpPr>
          <p:spPr>
            <a:xfrm>
              <a:off x="8973164" y="4072897"/>
              <a:ext cx="0" cy="26501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83D80EB3-9540-0207-2170-9AD243E2C39A}"/>
                </a:ext>
              </a:extLst>
            </p:cNvPr>
            <p:cNvCxnSpPr>
              <a:stCxn id="222" idx="3"/>
              <a:endCxn id="45" idx="1"/>
            </p:cNvCxnSpPr>
            <p:nvPr/>
          </p:nvCxnSpPr>
          <p:spPr>
            <a:xfrm flipV="1">
              <a:off x="7159609" y="3604903"/>
              <a:ext cx="408626" cy="1447197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4796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53694</TotalTime>
  <Words>52</Words>
  <Application>Microsoft Office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Los Alamos National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Harun U Rashid</dc:creator>
  <cp:lastModifiedBy>Harun U Rashid</cp:lastModifiedBy>
  <cp:revision>57</cp:revision>
  <dcterms:created xsi:type="dcterms:W3CDTF">2026-04-08T21:35:51Z</dcterms:created>
  <dcterms:modified xsi:type="dcterms:W3CDTF">2026-09-23T17:57:41Z</dcterms:modified>
</cp:coreProperties>
</file>